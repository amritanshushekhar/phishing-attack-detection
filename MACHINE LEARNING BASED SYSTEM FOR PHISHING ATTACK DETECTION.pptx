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1" r:id="rId1"/>
  </p:sldMasterIdLst>
  <p:sldIdLst>
    <p:sldId id="256" r:id="rId2"/>
    <p:sldId id="257" r:id="rId3"/>
    <p:sldId id="258" r:id="rId4"/>
    <p:sldId id="259" r:id="rId5"/>
    <p:sldId id="278" r:id="rId6"/>
    <p:sldId id="279" r:id="rId7"/>
    <p:sldId id="282" r:id="rId8"/>
    <p:sldId id="281" r:id="rId9"/>
    <p:sldId id="280" r:id="rId10"/>
    <p:sldId id="28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ritanhsu shekher" userId="b27d9038d9bfdaea" providerId="LiveId" clId="{08172A88-F001-4DFD-9A1E-4C7332530387}"/>
    <pc:docChg chg="modSld">
      <pc:chgData name="amritanhsu shekher" userId="b27d9038d9bfdaea" providerId="LiveId" clId="{08172A88-F001-4DFD-9A1E-4C7332530387}" dt="2024-01-19T08:14:41.813" v="45" actId="20577"/>
      <pc:docMkLst>
        <pc:docMk/>
      </pc:docMkLst>
      <pc:sldChg chg="modSp mod">
        <pc:chgData name="amritanhsu shekher" userId="b27d9038d9bfdaea" providerId="LiveId" clId="{08172A88-F001-4DFD-9A1E-4C7332530387}" dt="2024-01-19T08:14:41.813" v="45" actId="20577"/>
        <pc:sldMkLst>
          <pc:docMk/>
          <pc:sldMk cId="3069456893" sldId="256"/>
        </pc:sldMkLst>
        <pc:spChg chg="mod">
          <ac:chgData name="amritanhsu shekher" userId="b27d9038d9bfdaea" providerId="LiveId" clId="{08172A88-F001-4DFD-9A1E-4C7332530387}" dt="2024-01-19T08:14:41.813" v="45" actId="20577"/>
          <ac:spMkLst>
            <pc:docMk/>
            <pc:sldMk cId="3069456893" sldId="256"/>
            <ac:spMk id="3" creationId="{73DB2F1E-E534-5937-18CC-A908169137E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75624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24468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41331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3690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3918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82684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05585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2863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61846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10748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563000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29517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0949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904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85893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22552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4314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1/19/2024</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26413934"/>
      </p:ext>
    </p:extLst>
  </p:cSld>
  <p:clrMap bg1="dk1" tx1="lt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287B4-3530-984E-A818-040AF04A2137}"/>
              </a:ext>
            </a:extLst>
          </p:cNvPr>
          <p:cNvSpPr>
            <a:spLocks noGrp="1"/>
          </p:cNvSpPr>
          <p:nvPr>
            <p:ph type="ctrTitle"/>
          </p:nvPr>
        </p:nvSpPr>
        <p:spPr>
          <a:xfrm>
            <a:off x="830424" y="298581"/>
            <a:ext cx="10562254" cy="2099386"/>
          </a:xfrm>
        </p:spPr>
        <p:txBody>
          <a:bodyPr>
            <a:normAutofit/>
          </a:bodyPr>
          <a:lstStyle/>
          <a:p>
            <a:pPr algn="ctr"/>
            <a:r>
              <a:rPr lang="en-US" sz="4400" dirty="0"/>
              <a:t>MACHINE LEARNING BASED SYSTEM FOR PHISHING ATTACK DETECTION</a:t>
            </a:r>
            <a:endParaRPr lang="en-IN" sz="4400" dirty="0"/>
          </a:p>
        </p:txBody>
      </p:sp>
      <p:sp>
        <p:nvSpPr>
          <p:cNvPr id="3" name="Subtitle 2">
            <a:extLst>
              <a:ext uri="{FF2B5EF4-FFF2-40B4-BE49-F238E27FC236}">
                <a16:creationId xmlns:a16="http://schemas.microsoft.com/office/drawing/2014/main" id="{73DB2F1E-E534-5937-18CC-A908169137E7}"/>
              </a:ext>
            </a:extLst>
          </p:cNvPr>
          <p:cNvSpPr>
            <a:spLocks noGrp="1"/>
          </p:cNvSpPr>
          <p:nvPr>
            <p:ph type="subTitle" idx="1"/>
          </p:nvPr>
        </p:nvSpPr>
        <p:spPr>
          <a:xfrm>
            <a:off x="830424" y="3166284"/>
            <a:ext cx="9980303" cy="2929813"/>
          </a:xfrm>
        </p:spPr>
        <p:txBody>
          <a:bodyPr>
            <a:normAutofit/>
          </a:bodyPr>
          <a:lstStyle/>
          <a:p>
            <a:pPr algn="l"/>
            <a:r>
              <a:rPr lang="en-US" dirty="0">
                <a:solidFill>
                  <a:schemeClr val="bg2">
                    <a:lumMod val="40000"/>
                    <a:lumOff val="60000"/>
                  </a:schemeClr>
                </a:solidFill>
              </a:rPr>
              <a:t>						       </a:t>
            </a:r>
            <a:r>
              <a:rPr lang="en-US" sz="2000" b="1" dirty="0">
                <a:solidFill>
                  <a:schemeClr val="bg2">
                    <a:lumMod val="40000"/>
                    <a:lumOff val="60000"/>
                  </a:schemeClr>
                </a:solidFill>
                <a:effectLst>
                  <a:outerShdw blurRad="38100" dist="38100" dir="2700000" algn="tl">
                    <a:srgbClr val="000000">
                      <a:alpha val="43137"/>
                    </a:srgbClr>
                  </a:outerShdw>
                </a:effectLst>
              </a:rPr>
              <a:t>       </a:t>
            </a:r>
            <a:r>
              <a:rPr lang="en-US" sz="2000" b="1" dirty="0" err="1">
                <a:solidFill>
                  <a:schemeClr val="bg2">
                    <a:lumMod val="40000"/>
                    <a:lumOff val="60000"/>
                  </a:schemeClr>
                </a:solidFill>
                <a:effectLst>
                  <a:outerShdw blurRad="38100" dist="38100" dir="2700000" algn="tl">
                    <a:srgbClr val="000000">
                      <a:alpha val="43137"/>
                    </a:srgbClr>
                  </a:outerShdw>
                </a:effectLst>
              </a:rPr>
              <a:t>Amritanshu</a:t>
            </a:r>
            <a:r>
              <a:rPr lang="en-US" sz="2000" b="1" dirty="0">
                <a:solidFill>
                  <a:schemeClr val="bg2">
                    <a:lumMod val="40000"/>
                    <a:lumOff val="60000"/>
                  </a:schemeClr>
                </a:solidFill>
                <a:effectLst>
                  <a:outerShdw blurRad="38100" dist="38100" dir="2700000" algn="tl">
                    <a:srgbClr val="000000">
                      <a:alpha val="43137"/>
                    </a:srgbClr>
                  </a:outerShdw>
                </a:effectLst>
              </a:rPr>
              <a:t> shekher							               B.Tech. (CSE)</a:t>
            </a:r>
          </a:p>
          <a:p>
            <a:pPr algn="l"/>
            <a:r>
              <a:rPr lang="en-US" sz="2000" b="1" dirty="0">
                <a:solidFill>
                  <a:schemeClr val="bg2">
                    <a:lumMod val="40000"/>
                    <a:lumOff val="60000"/>
                  </a:schemeClr>
                </a:solidFill>
                <a:effectLst>
                  <a:outerShdw blurRad="38100" dist="38100" dir="2700000" algn="tl">
                    <a:srgbClr val="000000">
                      <a:alpha val="43137"/>
                    </a:srgbClr>
                  </a:outerShdw>
                </a:effectLst>
              </a:rPr>
              <a:t>					                             3</a:t>
            </a:r>
            <a:r>
              <a:rPr lang="en-US" sz="2000" b="1" baseline="30000" dirty="0">
                <a:solidFill>
                  <a:schemeClr val="bg2">
                    <a:lumMod val="40000"/>
                    <a:lumOff val="60000"/>
                  </a:schemeClr>
                </a:solidFill>
                <a:effectLst>
                  <a:outerShdw blurRad="38100" dist="38100" dir="2700000" algn="tl">
                    <a:srgbClr val="000000">
                      <a:alpha val="43137"/>
                    </a:srgbClr>
                  </a:outerShdw>
                </a:effectLst>
              </a:rPr>
              <a:t>rd</a:t>
            </a:r>
            <a:r>
              <a:rPr lang="en-US" sz="2000" b="1" dirty="0">
                <a:solidFill>
                  <a:schemeClr val="bg2">
                    <a:lumMod val="40000"/>
                    <a:lumOff val="60000"/>
                  </a:schemeClr>
                </a:solidFill>
                <a:effectLst>
                  <a:outerShdw blurRad="38100" dist="38100" dir="2700000" algn="tl">
                    <a:srgbClr val="000000">
                      <a:alpha val="43137"/>
                    </a:srgbClr>
                  </a:outerShdw>
                </a:effectLst>
              </a:rPr>
              <a:t> semester</a:t>
            </a:r>
          </a:p>
          <a:p>
            <a:pPr algn="l"/>
            <a:r>
              <a:rPr lang="en-US" sz="2000" b="1" dirty="0">
                <a:solidFill>
                  <a:schemeClr val="bg2">
                    <a:lumMod val="40000"/>
                    <a:lumOff val="60000"/>
                  </a:schemeClr>
                </a:solidFill>
                <a:effectLst>
                  <a:outerShdw blurRad="38100" dist="38100" dir="2700000" algn="tl">
                    <a:srgbClr val="000000">
                      <a:alpha val="43137"/>
                    </a:srgbClr>
                  </a:outerShdw>
                </a:effectLst>
              </a:rPr>
              <a:t>							Section :  E</a:t>
            </a:r>
          </a:p>
          <a:p>
            <a:pPr algn="l"/>
            <a:r>
              <a:rPr lang="en-US" sz="2000" b="1" dirty="0">
                <a:solidFill>
                  <a:schemeClr val="bg2">
                    <a:lumMod val="40000"/>
                    <a:lumOff val="60000"/>
                  </a:schemeClr>
                </a:solidFill>
                <a:effectLst>
                  <a:outerShdw blurRad="38100" dist="38100" dir="2700000" algn="tl">
                    <a:srgbClr val="000000">
                      <a:alpha val="43137"/>
                    </a:srgbClr>
                  </a:outerShdw>
                </a:effectLst>
              </a:rPr>
              <a:t>Supervisor : Prof. (Dr.) Mohammad Wazid 	              University Roll no.:2021083		</a:t>
            </a:r>
            <a:r>
              <a:rPr lang="en-US" dirty="0">
                <a:solidFill>
                  <a:schemeClr val="bg2">
                    <a:lumMod val="40000"/>
                    <a:lumOff val="60000"/>
                  </a:schemeClr>
                </a:solidFill>
              </a:rPr>
              <a:t>			</a:t>
            </a:r>
          </a:p>
        </p:txBody>
      </p:sp>
      <p:pic>
        <p:nvPicPr>
          <p:cNvPr id="5" name="Picture 4">
            <a:extLst>
              <a:ext uri="{FF2B5EF4-FFF2-40B4-BE49-F238E27FC236}">
                <a16:creationId xmlns:a16="http://schemas.microsoft.com/office/drawing/2014/main" id="{4F58B046-26AD-996A-BCF9-FBBB9F848943}"/>
              </a:ext>
            </a:extLst>
          </p:cNvPr>
          <p:cNvPicPr>
            <a:picLocks noChangeAspect="1"/>
          </p:cNvPicPr>
          <p:nvPr/>
        </p:nvPicPr>
        <p:blipFill>
          <a:blip r:embed="rId2"/>
          <a:stretch>
            <a:fillRect/>
          </a:stretch>
        </p:blipFill>
        <p:spPr>
          <a:xfrm>
            <a:off x="830424" y="2357437"/>
            <a:ext cx="2143125" cy="2143125"/>
          </a:xfrm>
          <a:prstGeom prst="rect">
            <a:avLst/>
          </a:prstGeom>
        </p:spPr>
      </p:pic>
    </p:spTree>
    <p:extLst>
      <p:ext uri="{BB962C8B-B14F-4D97-AF65-F5344CB8AC3E}">
        <p14:creationId xmlns:p14="http://schemas.microsoft.com/office/powerpoint/2010/main" val="3069456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F4B62-964E-DA16-8342-E8CCF0243806}"/>
              </a:ext>
            </a:extLst>
          </p:cNvPr>
          <p:cNvSpPr>
            <a:spLocks noGrp="1"/>
          </p:cNvSpPr>
          <p:nvPr>
            <p:ph type="ctrTitle"/>
          </p:nvPr>
        </p:nvSpPr>
        <p:spPr>
          <a:xfrm>
            <a:off x="1370693" y="127322"/>
            <a:ext cx="9440034" cy="923435"/>
          </a:xfrm>
        </p:spPr>
        <p:txBody>
          <a:bodyPr>
            <a:normAutofit fontScale="90000"/>
          </a:bodyPr>
          <a:lstStyle/>
          <a:p>
            <a:r>
              <a:rPr lang="en-US" sz="3200" dirty="0"/>
              <a:t>INTRODUCTION AND STRUCTURE DIAGRAM</a:t>
            </a:r>
            <a:endParaRPr lang="en-IN" sz="5400" dirty="0"/>
          </a:p>
        </p:txBody>
      </p:sp>
      <p:sp>
        <p:nvSpPr>
          <p:cNvPr id="3" name="Subtitle 2">
            <a:extLst>
              <a:ext uri="{FF2B5EF4-FFF2-40B4-BE49-F238E27FC236}">
                <a16:creationId xmlns:a16="http://schemas.microsoft.com/office/drawing/2014/main" id="{102FA3B5-8E93-4A0E-C6F8-A47B6E4B1C6C}"/>
              </a:ext>
            </a:extLst>
          </p:cNvPr>
          <p:cNvSpPr>
            <a:spLocks noGrp="1"/>
          </p:cNvSpPr>
          <p:nvPr>
            <p:ph type="subTitle" idx="1"/>
          </p:nvPr>
        </p:nvSpPr>
        <p:spPr>
          <a:xfrm>
            <a:off x="1370693" y="1215342"/>
            <a:ext cx="9440034" cy="4591901"/>
          </a:xfrm>
        </p:spPr>
        <p:txBody>
          <a:bodyPr>
            <a:normAutofit/>
          </a:bodyPr>
          <a:lstStyle/>
          <a:p>
            <a:pPr marL="285750" indent="-285750" algn="l">
              <a:buFont typeface="Arial" panose="020B0604020202020204" pitchFamily="34" charset="0"/>
              <a:buChar char="•"/>
            </a:pPr>
            <a:r>
              <a:rPr lang="en-IN" sz="1800" b="1" dirty="0">
                <a:solidFill>
                  <a:schemeClr val="bg2">
                    <a:lumMod val="40000"/>
                    <a:lumOff val="60000"/>
                  </a:schemeClr>
                </a:solidFill>
                <a:effectLst/>
                <a:ea typeface="Calibri" panose="020F0502020204030204" pitchFamily="34" charset="0"/>
              </a:rPr>
              <a:t>Phishing attacks have become anxiety for the cyber world. It causes enormous problems for privacy and financial issues of internet users. They send emails to steal the identity of legitimate users.</a:t>
            </a:r>
            <a:endParaRPr lang="en-US" sz="1800" b="1" dirty="0">
              <a:solidFill>
                <a:schemeClr val="bg2">
                  <a:lumMod val="40000"/>
                  <a:lumOff val="60000"/>
                </a:schemeClr>
              </a:solidFill>
              <a:effectLst/>
            </a:endParaRPr>
          </a:p>
          <a:p>
            <a:pPr marL="285750" indent="-285750" algn="l">
              <a:buFont typeface="Arial" panose="020B0604020202020204" pitchFamily="34" charset="0"/>
              <a:buChar char="•"/>
            </a:pPr>
            <a:r>
              <a:rPr lang="en-US" sz="1800" b="1" cap="none" dirty="0">
                <a:solidFill>
                  <a:schemeClr val="bg2">
                    <a:lumMod val="40000"/>
                    <a:lumOff val="60000"/>
                  </a:schemeClr>
                </a:solidFill>
                <a:effectLst/>
              </a:rPr>
              <a:t>Phishing refers to an attempt to steal sensitive information, typically in the form of usernames, passwords, credit cards or other important data.</a:t>
            </a:r>
          </a:p>
          <a:p>
            <a:pPr marL="285750" indent="-285750" algn="l">
              <a:buFont typeface="Arial" panose="020B0604020202020204" pitchFamily="34" charset="0"/>
              <a:buChar char="•"/>
            </a:pPr>
            <a:r>
              <a:rPr lang="en-US" sz="1800" b="1" cap="none" dirty="0">
                <a:solidFill>
                  <a:schemeClr val="bg2">
                    <a:lumMod val="40000"/>
                    <a:lumOff val="60000"/>
                  </a:schemeClr>
                </a:solidFill>
                <a:effectLst/>
              </a:rPr>
              <a:t>Traditional methods of detecting phishing attacks are proving insufficient in the face of evolving techniques used by cybercriminals.</a:t>
            </a:r>
          </a:p>
          <a:p>
            <a:pPr marL="285750" indent="-285750" algn="l">
              <a:buFont typeface="Arial" panose="020B0604020202020204" pitchFamily="34" charset="0"/>
              <a:buChar char="•"/>
            </a:pPr>
            <a:r>
              <a:rPr lang="en-US" sz="1800" b="1" i="0" cap="none" dirty="0">
                <a:solidFill>
                  <a:schemeClr val="bg2">
                    <a:lumMod val="40000"/>
                    <a:lumOff val="60000"/>
                  </a:schemeClr>
                </a:solidFill>
                <a:effectLst/>
              </a:rPr>
              <a:t>To enhance our defense mechanisms, we present a cutting-edge solution - a Machine Learning-Based System for Phishing Attack Detection.</a:t>
            </a:r>
            <a:endParaRPr lang="en-US" sz="1800" cap="none" dirty="0">
              <a:solidFill>
                <a:schemeClr val="bg2">
                  <a:lumMod val="40000"/>
                  <a:lumOff val="60000"/>
                </a:schemeClr>
              </a:solidFill>
            </a:endParaRPr>
          </a:p>
        </p:txBody>
      </p:sp>
    </p:spTree>
    <p:extLst>
      <p:ext uri="{BB962C8B-B14F-4D97-AF65-F5344CB8AC3E}">
        <p14:creationId xmlns:p14="http://schemas.microsoft.com/office/powerpoint/2010/main" val="3193216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6F56D-B9BD-4D6A-282D-65393D2DEFE0}"/>
              </a:ext>
            </a:extLst>
          </p:cNvPr>
          <p:cNvSpPr>
            <a:spLocks noGrp="1"/>
          </p:cNvSpPr>
          <p:nvPr>
            <p:ph type="ctrTitle"/>
          </p:nvPr>
        </p:nvSpPr>
        <p:spPr>
          <a:xfrm>
            <a:off x="1375983" y="677119"/>
            <a:ext cx="9440034" cy="1049867"/>
          </a:xfrm>
        </p:spPr>
        <p:txBody>
          <a:bodyPr/>
          <a:lstStyle/>
          <a:p>
            <a:r>
              <a:rPr lang="en-US" dirty="0"/>
              <a:t>Problem statement</a:t>
            </a:r>
            <a:endParaRPr lang="en-IN" dirty="0"/>
          </a:p>
        </p:txBody>
      </p:sp>
      <p:sp>
        <p:nvSpPr>
          <p:cNvPr id="3" name="Subtitle 2">
            <a:extLst>
              <a:ext uri="{FF2B5EF4-FFF2-40B4-BE49-F238E27FC236}">
                <a16:creationId xmlns:a16="http://schemas.microsoft.com/office/drawing/2014/main" id="{758C0971-CFB4-64A2-F95A-1A390F1D213C}"/>
              </a:ext>
            </a:extLst>
          </p:cNvPr>
          <p:cNvSpPr>
            <a:spLocks noGrp="1"/>
          </p:cNvSpPr>
          <p:nvPr>
            <p:ph type="subTitle" idx="1"/>
          </p:nvPr>
        </p:nvSpPr>
        <p:spPr>
          <a:xfrm>
            <a:off x="1375983" y="2314937"/>
            <a:ext cx="9440034" cy="3865944"/>
          </a:xfrm>
        </p:spPr>
        <p:txBody>
          <a:bodyPr>
            <a:normAutofit/>
          </a:bodyPr>
          <a:lstStyle/>
          <a:p>
            <a:r>
              <a:rPr lang="en-US" sz="2400" cap="none" dirty="0">
                <a:solidFill>
                  <a:schemeClr val="bg2">
                    <a:lumMod val="40000"/>
                    <a:lumOff val="60000"/>
                  </a:schemeClr>
                </a:solidFill>
              </a:rPr>
              <a:t>The objective of the proposed system is to design, develop and implement a machine learning-based system for the detection of phishing attacks. The focus is on to find the effective solution that can identify and classify phishing attempts with a high level of accuracy.</a:t>
            </a:r>
            <a:endParaRPr lang="en-IN" sz="2400" cap="none" dirty="0">
              <a:solidFill>
                <a:schemeClr val="bg2">
                  <a:lumMod val="40000"/>
                  <a:lumOff val="60000"/>
                </a:schemeClr>
              </a:solidFill>
            </a:endParaRPr>
          </a:p>
        </p:txBody>
      </p:sp>
    </p:spTree>
    <p:extLst>
      <p:ext uri="{BB962C8B-B14F-4D97-AF65-F5344CB8AC3E}">
        <p14:creationId xmlns:p14="http://schemas.microsoft.com/office/powerpoint/2010/main" val="1608636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9FB59-2EAB-EDD2-DD10-3DD0EC80B3B9}"/>
              </a:ext>
            </a:extLst>
          </p:cNvPr>
          <p:cNvSpPr>
            <a:spLocks noGrp="1"/>
          </p:cNvSpPr>
          <p:nvPr>
            <p:ph type="ctrTitle"/>
          </p:nvPr>
        </p:nvSpPr>
        <p:spPr>
          <a:xfrm>
            <a:off x="1370693" y="544010"/>
            <a:ext cx="9440034" cy="1049867"/>
          </a:xfrm>
        </p:spPr>
        <p:txBody>
          <a:bodyPr/>
          <a:lstStyle/>
          <a:p>
            <a:r>
              <a:rPr lang="en-US" dirty="0"/>
              <a:t>Methodology</a:t>
            </a:r>
            <a:endParaRPr lang="en-IN" dirty="0"/>
          </a:p>
        </p:txBody>
      </p:sp>
      <p:sp>
        <p:nvSpPr>
          <p:cNvPr id="3" name="Subtitle 2">
            <a:extLst>
              <a:ext uri="{FF2B5EF4-FFF2-40B4-BE49-F238E27FC236}">
                <a16:creationId xmlns:a16="http://schemas.microsoft.com/office/drawing/2014/main" id="{C79CF64B-EF95-66BC-CB72-4474934519A7}"/>
              </a:ext>
            </a:extLst>
          </p:cNvPr>
          <p:cNvSpPr>
            <a:spLocks noGrp="1"/>
          </p:cNvSpPr>
          <p:nvPr>
            <p:ph type="subTitle" idx="1"/>
          </p:nvPr>
        </p:nvSpPr>
        <p:spPr>
          <a:xfrm>
            <a:off x="1370693" y="1944546"/>
            <a:ext cx="9440034" cy="4369443"/>
          </a:xfrm>
        </p:spPr>
        <p:txBody>
          <a:bodyPr>
            <a:normAutofit fontScale="92500"/>
          </a:bodyPr>
          <a:lstStyle/>
          <a:p>
            <a:pPr marL="457200" indent="-457200" algn="l">
              <a:buAutoNum type="arabicPeriod"/>
            </a:pPr>
            <a:r>
              <a:rPr lang="en-US" cap="none" dirty="0"/>
              <a:t>Data Collection : </a:t>
            </a:r>
            <a:r>
              <a:rPr lang="en-US" cap="none" dirty="0">
                <a:solidFill>
                  <a:schemeClr val="bg2">
                    <a:lumMod val="40000"/>
                    <a:lumOff val="60000"/>
                  </a:schemeClr>
                </a:solidFill>
              </a:rPr>
              <a:t>Collect labeled dataset containing phishing and legitimate websites from the open source platform.</a:t>
            </a:r>
          </a:p>
          <a:p>
            <a:pPr marL="457200" indent="-457200" algn="l">
              <a:buAutoNum type="arabicPeriod"/>
            </a:pPr>
            <a:r>
              <a:rPr lang="en-IN" cap="none" dirty="0"/>
              <a:t>Data Preprocessing : </a:t>
            </a:r>
            <a:r>
              <a:rPr lang="en-IN" cap="none" dirty="0">
                <a:solidFill>
                  <a:schemeClr val="bg2">
                    <a:lumMod val="40000"/>
                    <a:lumOff val="60000"/>
                  </a:schemeClr>
                </a:solidFill>
              </a:rPr>
              <a:t>Clean and preprocess the dataset by removing irrelevant features and missing values and converting it into a suitable format for machine learning algorithm.</a:t>
            </a:r>
          </a:p>
          <a:p>
            <a:pPr marL="457200" indent="-457200" algn="l">
              <a:buAutoNum type="arabicPeriod"/>
            </a:pPr>
            <a:r>
              <a:rPr lang="en-IN" dirty="0"/>
              <a:t>Splitting data : </a:t>
            </a:r>
            <a:r>
              <a:rPr lang="en-IN" dirty="0">
                <a:solidFill>
                  <a:schemeClr val="bg2">
                    <a:lumMod val="40000"/>
                    <a:lumOff val="60000"/>
                  </a:schemeClr>
                </a:solidFill>
              </a:rPr>
              <a:t>Dataset is first shuffled and then split into train and test dataset.</a:t>
            </a:r>
          </a:p>
          <a:p>
            <a:pPr marL="457200" indent="-457200" algn="l">
              <a:buAutoNum type="arabicPeriod"/>
            </a:pPr>
            <a:r>
              <a:rPr lang="en-IN" cap="none" dirty="0"/>
              <a:t>Model Selection : </a:t>
            </a:r>
            <a:r>
              <a:rPr lang="en-IN" dirty="0">
                <a:solidFill>
                  <a:schemeClr val="bg2">
                    <a:lumMod val="40000"/>
                    <a:lumOff val="60000"/>
                  </a:schemeClr>
                </a:solidFill>
              </a:rPr>
              <a:t>Machine Learning models which are suitable for phishing attack detections are evaluated and chosen.</a:t>
            </a:r>
            <a:endParaRPr lang="en-IN" cap="none" dirty="0">
              <a:solidFill>
                <a:schemeClr val="bg2">
                  <a:lumMod val="40000"/>
                  <a:lumOff val="60000"/>
                </a:schemeClr>
              </a:solidFill>
            </a:endParaRPr>
          </a:p>
        </p:txBody>
      </p:sp>
    </p:spTree>
    <p:extLst>
      <p:ext uri="{BB962C8B-B14F-4D97-AF65-F5344CB8AC3E}">
        <p14:creationId xmlns:p14="http://schemas.microsoft.com/office/powerpoint/2010/main" val="65690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8026-2899-5C60-0DBE-76E477E99DA4}"/>
              </a:ext>
            </a:extLst>
          </p:cNvPr>
          <p:cNvSpPr>
            <a:spLocks noGrp="1"/>
          </p:cNvSpPr>
          <p:nvPr>
            <p:ph type="ctrTitle"/>
          </p:nvPr>
        </p:nvSpPr>
        <p:spPr>
          <a:xfrm>
            <a:off x="1595269" y="392722"/>
            <a:ext cx="9001462" cy="1207478"/>
          </a:xfrm>
        </p:spPr>
        <p:txBody>
          <a:bodyPr/>
          <a:lstStyle/>
          <a:p>
            <a:r>
              <a:rPr lang="en-IN" dirty="0"/>
              <a:t>Methodology</a:t>
            </a:r>
          </a:p>
        </p:txBody>
      </p:sp>
      <p:sp>
        <p:nvSpPr>
          <p:cNvPr id="3" name="Subtitle 2">
            <a:extLst>
              <a:ext uri="{FF2B5EF4-FFF2-40B4-BE49-F238E27FC236}">
                <a16:creationId xmlns:a16="http://schemas.microsoft.com/office/drawing/2014/main" id="{9A602F38-0A04-CC13-4954-8DFA6EAF0A9A}"/>
              </a:ext>
            </a:extLst>
          </p:cNvPr>
          <p:cNvSpPr>
            <a:spLocks noGrp="1"/>
          </p:cNvSpPr>
          <p:nvPr>
            <p:ph type="subTitle" idx="1"/>
          </p:nvPr>
        </p:nvSpPr>
        <p:spPr>
          <a:xfrm>
            <a:off x="1595269" y="2036283"/>
            <a:ext cx="9001462" cy="4038839"/>
          </a:xfrm>
        </p:spPr>
        <p:txBody>
          <a:bodyPr>
            <a:normAutofit/>
          </a:bodyPr>
          <a:lstStyle/>
          <a:p>
            <a:pPr marL="457200" indent="-457200" algn="l">
              <a:buAutoNum type="arabicPeriod" startAt="5"/>
            </a:pPr>
            <a:r>
              <a:rPr lang="en-IN" sz="2200" dirty="0"/>
              <a:t>Training the model : </a:t>
            </a:r>
            <a:r>
              <a:rPr lang="en-IN" sz="2200" dirty="0">
                <a:solidFill>
                  <a:schemeClr val="bg2">
                    <a:lumMod val="40000"/>
                    <a:lumOff val="60000"/>
                  </a:schemeClr>
                </a:solidFill>
              </a:rPr>
              <a:t>Model is trained from the trained dataset by using different machine learning models.</a:t>
            </a:r>
          </a:p>
          <a:p>
            <a:pPr marL="457200" indent="-457200" algn="l">
              <a:buAutoNum type="arabicPeriod" startAt="5"/>
            </a:pPr>
            <a:r>
              <a:rPr lang="en-IN" sz="2200" dirty="0"/>
              <a:t>Evaluation Metrices </a:t>
            </a:r>
            <a:r>
              <a:rPr lang="en-IN" sz="2200" dirty="0">
                <a:solidFill>
                  <a:schemeClr val="bg2">
                    <a:lumMod val="40000"/>
                    <a:lumOff val="60000"/>
                  </a:schemeClr>
                </a:solidFill>
              </a:rPr>
              <a:t>: Evaluation metrices such as accuracy, precision , recall and F1 score are established to assess the performance of the machine learning model.</a:t>
            </a:r>
          </a:p>
          <a:p>
            <a:pPr marL="457200" indent="-457200" algn="l">
              <a:buAutoNum type="arabicPeriod" startAt="7"/>
            </a:pPr>
            <a:r>
              <a:rPr lang="en-IN" sz="2200" dirty="0"/>
              <a:t>Validation and Testing </a:t>
            </a:r>
            <a:r>
              <a:rPr lang="en-IN" sz="2200" dirty="0">
                <a:solidFill>
                  <a:schemeClr val="bg2">
                    <a:lumMod val="40000"/>
                    <a:lumOff val="60000"/>
                  </a:schemeClr>
                </a:solidFill>
              </a:rPr>
              <a:t>: Testing the model that we created using test dataset and model is saved for the future use.</a:t>
            </a:r>
          </a:p>
          <a:p>
            <a:pPr algn="l"/>
            <a:endParaRPr lang="en-IN" sz="2200" dirty="0">
              <a:solidFill>
                <a:schemeClr val="bg2">
                  <a:lumMod val="40000"/>
                  <a:lumOff val="60000"/>
                </a:schemeClr>
              </a:solidFill>
            </a:endParaRPr>
          </a:p>
        </p:txBody>
      </p:sp>
    </p:spTree>
    <p:extLst>
      <p:ext uri="{BB962C8B-B14F-4D97-AF65-F5344CB8AC3E}">
        <p14:creationId xmlns:p14="http://schemas.microsoft.com/office/powerpoint/2010/main" val="119351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11018-C1D0-E63A-E391-1947168B0FC7}"/>
              </a:ext>
            </a:extLst>
          </p:cNvPr>
          <p:cNvSpPr>
            <a:spLocks noGrp="1"/>
          </p:cNvSpPr>
          <p:nvPr>
            <p:ph type="ctrTitle"/>
          </p:nvPr>
        </p:nvSpPr>
        <p:spPr>
          <a:xfrm>
            <a:off x="1595269" y="406400"/>
            <a:ext cx="9001462" cy="955869"/>
          </a:xfrm>
        </p:spPr>
        <p:txBody>
          <a:bodyPr/>
          <a:lstStyle/>
          <a:p>
            <a:r>
              <a:rPr lang="en-IN" dirty="0"/>
              <a:t>Result and discussion</a:t>
            </a:r>
          </a:p>
        </p:txBody>
      </p:sp>
      <p:sp>
        <p:nvSpPr>
          <p:cNvPr id="3" name="Subtitle 2">
            <a:extLst>
              <a:ext uri="{FF2B5EF4-FFF2-40B4-BE49-F238E27FC236}">
                <a16:creationId xmlns:a16="http://schemas.microsoft.com/office/drawing/2014/main" id="{70645AFB-DCB9-4688-D216-543F15AEA434}"/>
              </a:ext>
            </a:extLst>
          </p:cNvPr>
          <p:cNvSpPr>
            <a:spLocks noGrp="1"/>
          </p:cNvSpPr>
          <p:nvPr>
            <p:ph type="subTitle" idx="1"/>
          </p:nvPr>
        </p:nvSpPr>
        <p:spPr>
          <a:xfrm>
            <a:off x="1595269" y="1651518"/>
            <a:ext cx="9001462" cy="3606282"/>
          </a:xfrm>
        </p:spPr>
        <p:txBody>
          <a:bodyPr>
            <a:normAutofit/>
          </a:bodyPr>
          <a:lstStyle/>
          <a:p>
            <a:r>
              <a:rPr lang="en-US" sz="2000" i="0" dirty="0">
                <a:solidFill>
                  <a:schemeClr val="bg2">
                    <a:lumMod val="40000"/>
                    <a:lumOff val="60000"/>
                  </a:schemeClr>
                </a:solidFill>
                <a:effectLst>
                  <a:outerShdw blurRad="38100" dist="38100" dir="2700000" algn="tl">
                    <a:srgbClr val="000000">
                      <a:alpha val="43137"/>
                    </a:srgbClr>
                  </a:outerShdw>
                </a:effectLst>
              </a:rPr>
              <a:t>In this project, we successfully developed and evaluated machine learning models for phishing attack detection using various algorithms, including Decision Tree, Random Forest, XGBoost, and Support Vector Machine (SVM). The dataset, containing URL features and labels indicating whether a URL is associated with phishing, was preprocessed, explored, and used to train and test the models. The models were evaluated based on accuracy, classification reports, and confusion matrices.</a:t>
            </a:r>
            <a:r>
              <a:rPr lang="en-IN" sz="2000" i="0" dirty="0">
                <a:solidFill>
                  <a:schemeClr val="bg2">
                    <a:lumMod val="40000"/>
                    <a:lumOff val="60000"/>
                  </a:schemeClr>
                </a:solidFill>
                <a:effectLst>
                  <a:outerShdw blurRad="38100" dist="38100" dir="2700000" algn="tl">
                    <a:srgbClr val="000000">
                      <a:alpha val="43137"/>
                    </a:srgbClr>
                  </a:outerShdw>
                </a:effectLst>
              </a:rPr>
              <a:t> </a:t>
            </a:r>
            <a:endParaRPr lang="en-IN" sz="2000" dirty="0">
              <a:solidFill>
                <a:schemeClr val="bg2">
                  <a:lumMod val="40000"/>
                  <a:lumOff val="6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62626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5CFFC-C62F-AA43-A5D3-56C4207A258B}"/>
              </a:ext>
            </a:extLst>
          </p:cNvPr>
          <p:cNvSpPr>
            <a:spLocks noGrp="1"/>
          </p:cNvSpPr>
          <p:nvPr>
            <p:ph type="ctrTitle"/>
          </p:nvPr>
        </p:nvSpPr>
        <p:spPr>
          <a:xfrm>
            <a:off x="1595269" y="177282"/>
            <a:ext cx="9001462" cy="869400"/>
          </a:xfrm>
        </p:spPr>
        <p:txBody>
          <a:bodyPr/>
          <a:lstStyle/>
          <a:p>
            <a:r>
              <a:rPr lang="en-IN" dirty="0"/>
              <a:t>Result and discussion</a:t>
            </a:r>
          </a:p>
        </p:txBody>
      </p:sp>
      <p:sp>
        <p:nvSpPr>
          <p:cNvPr id="3" name="Subtitle 2">
            <a:extLst>
              <a:ext uri="{FF2B5EF4-FFF2-40B4-BE49-F238E27FC236}">
                <a16:creationId xmlns:a16="http://schemas.microsoft.com/office/drawing/2014/main" id="{4EA5FDE2-9C77-88FB-D3C7-96535921C54E}"/>
              </a:ext>
            </a:extLst>
          </p:cNvPr>
          <p:cNvSpPr>
            <a:spLocks noGrp="1"/>
          </p:cNvSpPr>
          <p:nvPr>
            <p:ph type="subTitle" idx="1"/>
          </p:nvPr>
        </p:nvSpPr>
        <p:spPr>
          <a:xfrm>
            <a:off x="1595269" y="1129004"/>
            <a:ext cx="9001462" cy="4128796"/>
          </a:xfrm>
        </p:spPr>
        <p:txBody>
          <a:bodyPr>
            <a:normAutofit/>
          </a:bodyPr>
          <a:lstStyle/>
          <a:p>
            <a:r>
              <a:rPr lang="en-IN" sz="1800" dirty="0">
                <a:solidFill>
                  <a:schemeClr val="bg2">
                    <a:lumMod val="40000"/>
                    <a:lumOff val="60000"/>
                  </a:schemeClr>
                </a:solidFill>
              </a:rPr>
              <a:t>From the evaluation of the model from the trained and test dataset, we get accuracy of the 86% and XGBoost gives the highest accuracy for the model.</a:t>
            </a:r>
          </a:p>
          <a:p>
            <a:r>
              <a:rPr lang="en-IN" sz="1800" dirty="0">
                <a:solidFill>
                  <a:schemeClr val="bg2">
                    <a:lumMod val="40000"/>
                    <a:lumOff val="60000"/>
                  </a:schemeClr>
                </a:solidFill>
              </a:rPr>
              <a:t>Different models are visualized on the basis of their accuracy with the help of graphical representation.</a:t>
            </a:r>
            <a:endParaRPr lang="en-IN" sz="1800" dirty="0"/>
          </a:p>
        </p:txBody>
      </p:sp>
      <p:pic>
        <p:nvPicPr>
          <p:cNvPr id="5" name="Picture 4">
            <a:extLst>
              <a:ext uri="{FF2B5EF4-FFF2-40B4-BE49-F238E27FC236}">
                <a16:creationId xmlns:a16="http://schemas.microsoft.com/office/drawing/2014/main" id="{44346E65-5637-3F9E-E0FC-86E7B18045A3}"/>
              </a:ext>
            </a:extLst>
          </p:cNvPr>
          <p:cNvPicPr>
            <a:picLocks noChangeAspect="1"/>
          </p:cNvPicPr>
          <p:nvPr/>
        </p:nvPicPr>
        <p:blipFill>
          <a:blip r:embed="rId2"/>
          <a:stretch>
            <a:fillRect/>
          </a:stretch>
        </p:blipFill>
        <p:spPr>
          <a:xfrm>
            <a:off x="978800" y="3429000"/>
            <a:ext cx="4318883" cy="1697045"/>
          </a:xfrm>
          <a:prstGeom prst="rect">
            <a:avLst/>
          </a:prstGeom>
        </p:spPr>
      </p:pic>
      <p:pic>
        <p:nvPicPr>
          <p:cNvPr id="6" name="Picture 5">
            <a:extLst>
              <a:ext uri="{FF2B5EF4-FFF2-40B4-BE49-F238E27FC236}">
                <a16:creationId xmlns:a16="http://schemas.microsoft.com/office/drawing/2014/main" id="{E3040530-6337-0A80-0219-B1AB8E8EF2D6}"/>
              </a:ext>
            </a:extLst>
          </p:cNvPr>
          <p:cNvPicPr>
            <a:picLocks noChangeAspect="1"/>
          </p:cNvPicPr>
          <p:nvPr/>
        </p:nvPicPr>
        <p:blipFill>
          <a:blip r:embed="rId3"/>
          <a:stretch>
            <a:fillRect/>
          </a:stretch>
        </p:blipFill>
        <p:spPr>
          <a:xfrm>
            <a:off x="6096000" y="2777438"/>
            <a:ext cx="4165634" cy="2833273"/>
          </a:xfrm>
          <a:prstGeom prst="rect">
            <a:avLst/>
          </a:prstGeom>
        </p:spPr>
      </p:pic>
    </p:spTree>
    <p:extLst>
      <p:ext uri="{BB962C8B-B14F-4D97-AF65-F5344CB8AC3E}">
        <p14:creationId xmlns:p14="http://schemas.microsoft.com/office/powerpoint/2010/main" val="1160593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17E7E-9A11-78B2-8444-7EDEB2EC9132}"/>
              </a:ext>
            </a:extLst>
          </p:cNvPr>
          <p:cNvSpPr>
            <a:spLocks noGrp="1"/>
          </p:cNvSpPr>
          <p:nvPr>
            <p:ph type="ctrTitle"/>
          </p:nvPr>
        </p:nvSpPr>
        <p:spPr>
          <a:xfrm>
            <a:off x="1595269" y="298579"/>
            <a:ext cx="9001462" cy="860069"/>
          </a:xfrm>
        </p:spPr>
        <p:txBody>
          <a:bodyPr/>
          <a:lstStyle/>
          <a:p>
            <a:r>
              <a:rPr lang="en-IN" dirty="0"/>
              <a:t>Result and discussion</a:t>
            </a:r>
          </a:p>
        </p:txBody>
      </p:sp>
      <p:sp>
        <p:nvSpPr>
          <p:cNvPr id="3" name="Subtitle 2">
            <a:extLst>
              <a:ext uri="{FF2B5EF4-FFF2-40B4-BE49-F238E27FC236}">
                <a16:creationId xmlns:a16="http://schemas.microsoft.com/office/drawing/2014/main" id="{E28E3E0D-7B8F-AE98-8835-E7842B17A855}"/>
              </a:ext>
            </a:extLst>
          </p:cNvPr>
          <p:cNvSpPr>
            <a:spLocks noGrp="1"/>
          </p:cNvSpPr>
          <p:nvPr>
            <p:ph type="subTitle" idx="1"/>
          </p:nvPr>
        </p:nvSpPr>
        <p:spPr>
          <a:xfrm>
            <a:off x="1595269" y="1632857"/>
            <a:ext cx="9001462" cy="3624943"/>
          </a:xfrm>
        </p:spPr>
        <p:txBody>
          <a:bodyPr>
            <a:normAutofit/>
          </a:bodyPr>
          <a:lstStyle/>
          <a:p>
            <a:r>
              <a:rPr lang="en-IN" sz="1800" dirty="0"/>
              <a:t>The confusion matrix, F1 score and the accuracy of the matrix model </a:t>
            </a:r>
          </a:p>
        </p:txBody>
      </p:sp>
      <p:pic>
        <p:nvPicPr>
          <p:cNvPr id="7" name="Picture 6">
            <a:extLst>
              <a:ext uri="{FF2B5EF4-FFF2-40B4-BE49-F238E27FC236}">
                <a16:creationId xmlns:a16="http://schemas.microsoft.com/office/drawing/2014/main" id="{4CA87C75-165B-35D4-4785-434C564DB8CC}"/>
              </a:ext>
            </a:extLst>
          </p:cNvPr>
          <p:cNvPicPr>
            <a:picLocks noChangeAspect="1"/>
          </p:cNvPicPr>
          <p:nvPr/>
        </p:nvPicPr>
        <p:blipFill>
          <a:blip r:embed="rId2"/>
          <a:stretch>
            <a:fillRect/>
          </a:stretch>
        </p:blipFill>
        <p:spPr>
          <a:xfrm>
            <a:off x="7707778" y="3640708"/>
            <a:ext cx="3342511" cy="2821610"/>
          </a:xfrm>
          <a:prstGeom prst="rect">
            <a:avLst/>
          </a:prstGeom>
        </p:spPr>
      </p:pic>
      <p:pic>
        <p:nvPicPr>
          <p:cNvPr id="9" name="Picture 8">
            <a:extLst>
              <a:ext uri="{FF2B5EF4-FFF2-40B4-BE49-F238E27FC236}">
                <a16:creationId xmlns:a16="http://schemas.microsoft.com/office/drawing/2014/main" id="{71F49427-1ED1-95CA-A6B3-FA0B1FF9FEFF}"/>
              </a:ext>
            </a:extLst>
          </p:cNvPr>
          <p:cNvPicPr>
            <a:picLocks noChangeAspect="1"/>
          </p:cNvPicPr>
          <p:nvPr/>
        </p:nvPicPr>
        <p:blipFill>
          <a:blip r:embed="rId3"/>
          <a:stretch>
            <a:fillRect/>
          </a:stretch>
        </p:blipFill>
        <p:spPr>
          <a:xfrm>
            <a:off x="1350859" y="3640708"/>
            <a:ext cx="4259949" cy="2918713"/>
          </a:xfrm>
          <a:prstGeom prst="rect">
            <a:avLst/>
          </a:prstGeom>
        </p:spPr>
      </p:pic>
    </p:spTree>
    <p:extLst>
      <p:ext uri="{BB962C8B-B14F-4D97-AF65-F5344CB8AC3E}">
        <p14:creationId xmlns:p14="http://schemas.microsoft.com/office/powerpoint/2010/main" val="543040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7BA86-66A0-C9F8-6A87-D5024F8AB661}"/>
              </a:ext>
            </a:extLst>
          </p:cNvPr>
          <p:cNvSpPr>
            <a:spLocks noGrp="1"/>
          </p:cNvSpPr>
          <p:nvPr>
            <p:ph type="title"/>
          </p:nvPr>
        </p:nvSpPr>
        <p:spPr>
          <a:xfrm>
            <a:off x="736513" y="77755"/>
            <a:ext cx="10353761" cy="1326321"/>
          </a:xfrm>
        </p:spPr>
        <p:txBody>
          <a:bodyPr/>
          <a:lstStyle/>
          <a:p>
            <a:r>
              <a:rPr lang="en-IN" dirty="0"/>
              <a:t>Conclusion</a:t>
            </a:r>
          </a:p>
        </p:txBody>
      </p:sp>
      <p:sp>
        <p:nvSpPr>
          <p:cNvPr id="3" name="Content Placeholder 2">
            <a:extLst>
              <a:ext uri="{FF2B5EF4-FFF2-40B4-BE49-F238E27FC236}">
                <a16:creationId xmlns:a16="http://schemas.microsoft.com/office/drawing/2014/main" id="{F48FC6D3-895F-0756-FAAE-A47E70C82C12}"/>
              </a:ext>
            </a:extLst>
          </p:cNvPr>
          <p:cNvSpPr>
            <a:spLocks noGrp="1"/>
          </p:cNvSpPr>
          <p:nvPr>
            <p:ph idx="1"/>
          </p:nvPr>
        </p:nvSpPr>
        <p:spPr>
          <a:xfrm>
            <a:off x="919119" y="1312292"/>
            <a:ext cx="10353762" cy="3695136"/>
          </a:xfrm>
        </p:spPr>
        <p:txBody>
          <a:bodyPr>
            <a:normAutofit/>
          </a:bodyPr>
          <a:lstStyle/>
          <a:p>
            <a:pPr marL="0" indent="0">
              <a:buNone/>
            </a:pPr>
            <a:r>
              <a:rPr lang="en-US" sz="1800" i="0" dirty="0">
                <a:solidFill>
                  <a:schemeClr val="bg2">
                    <a:lumMod val="40000"/>
                    <a:lumOff val="60000"/>
                  </a:schemeClr>
                </a:solidFill>
                <a:effectLst>
                  <a:outerShdw blurRad="38100" dist="38100" dir="2700000" algn="tl">
                    <a:srgbClr val="000000">
                      <a:alpha val="43137"/>
                    </a:srgbClr>
                  </a:outerShdw>
                </a:effectLst>
              </a:rPr>
              <a:t>In this project, we successfully developed and evaluated machine learning models for phishing attack detection using various algorithms, including Decision Tree, Random Forest, XGBoost, and Support Vector Machine (SVM). The dataset, containing URL features and labels indicating whether a URL is associated with phishing, was preprocessed, explored, and used to train and test the models. The models were evaluated based on accuracy, classification reports, and confusion matrices.</a:t>
            </a:r>
            <a:r>
              <a:rPr lang="en-IN" sz="1800" i="0" dirty="0">
                <a:solidFill>
                  <a:schemeClr val="bg2">
                    <a:lumMod val="40000"/>
                    <a:lumOff val="60000"/>
                  </a:schemeClr>
                </a:solidFill>
                <a:effectLst>
                  <a:outerShdw blurRad="38100" dist="38100" dir="2700000" algn="tl">
                    <a:srgbClr val="000000">
                      <a:alpha val="43137"/>
                    </a:srgbClr>
                  </a:outerShdw>
                </a:effectLst>
              </a:rPr>
              <a:t> </a:t>
            </a:r>
            <a:r>
              <a:rPr lang="en-IN" sz="1800" dirty="0">
                <a:solidFill>
                  <a:schemeClr val="bg2">
                    <a:lumMod val="40000"/>
                    <a:lumOff val="60000"/>
                  </a:schemeClr>
                </a:solidFill>
                <a:effectLst>
                  <a:outerShdw blurRad="38100" dist="38100" dir="2700000" algn="tl">
                    <a:srgbClr val="000000">
                      <a:alpha val="43137"/>
                    </a:srgbClr>
                  </a:outerShdw>
                </a:effectLst>
                <a:ea typeface="Times New Roman" panose="02020603050405020304" pitchFamily="18" charset="0"/>
              </a:rPr>
              <a:t>All the four classifiers gave promising results with the best being XGBoost Classifier with an accuracy score of 86%. The accuracy score might vary while using other datasets and other algorithms might provide better accuracy than XGBoost classifier.</a:t>
            </a:r>
            <a:endParaRPr lang="en-US" sz="1800" i="0" dirty="0">
              <a:solidFill>
                <a:schemeClr val="bg2">
                  <a:lumMod val="40000"/>
                  <a:lumOff val="6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97598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77046-4B77-17C3-0F36-B49FCDBE59F9}"/>
              </a:ext>
            </a:extLst>
          </p:cNvPr>
          <p:cNvSpPr>
            <a:spLocks noGrp="1"/>
          </p:cNvSpPr>
          <p:nvPr>
            <p:ph type="ctrTitle"/>
          </p:nvPr>
        </p:nvSpPr>
        <p:spPr>
          <a:xfrm>
            <a:off x="1483302" y="282608"/>
            <a:ext cx="9001462" cy="883719"/>
          </a:xfrm>
        </p:spPr>
        <p:txBody>
          <a:bodyPr/>
          <a:lstStyle/>
          <a:p>
            <a:r>
              <a:rPr lang="en-IN" dirty="0"/>
              <a:t>Future work</a:t>
            </a:r>
          </a:p>
        </p:txBody>
      </p:sp>
      <p:sp>
        <p:nvSpPr>
          <p:cNvPr id="3" name="Subtitle 2">
            <a:extLst>
              <a:ext uri="{FF2B5EF4-FFF2-40B4-BE49-F238E27FC236}">
                <a16:creationId xmlns:a16="http://schemas.microsoft.com/office/drawing/2014/main" id="{F8153C77-71BC-22D3-5AE6-D04D649731F0}"/>
              </a:ext>
            </a:extLst>
          </p:cNvPr>
          <p:cNvSpPr>
            <a:spLocks noGrp="1"/>
          </p:cNvSpPr>
          <p:nvPr>
            <p:ph type="subTitle" idx="1"/>
          </p:nvPr>
        </p:nvSpPr>
        <p:spPr>
          <a:xfrm>
            <a:off x="1595269" y="1324947"/>
            <a:ext cx="9001462" cy="3932853"/>
          </a:xfrm>
        </p:spPr>
        <p:txBody>
          <a:bodyPr>
            <a:normAutofit fontScale="92500" lnSpcReduction="20000"/>
          </a:bodyPr>
          <a:lstStyle/>
          <a:p>
            <a:r>
              <a:rPr lang="en-US" dirty="0">
                <a:solidFill>
                  <a:schemeClr val="bg2">
                    <a:lumMod val="40000"/>
                    <a:lumOff val="60000"/>
                  </a:schemeClr>
                </a:solidFill>
              </a:rPr>
              <a:t>Further work can be done to enhance the model by using </a:t>
            </a:r>
            <a:r>
              <a:rPr lang="en-US" dirty="0" err="1">
                <a:solidFill>
                  <a:schemeClr val="bg2">
                    <a:lumMod val="40000"/>
                    <a:lumOff val="60000"/>
                  </a:schemeClr>
                </a:solidFill>
              </a:rPr>
              <a:t>ensembling</a:t>
            </a:r>
            <a:r>
              <a:rPr lang="en-US" dirty="0">
                <a:solidFill>
                  <a:schemeClr val="bg2">
                    <a:lumMod val="40000"/>
                    <a:lumOff val="60000"/>
                  </a:schemeClr>
                </a:solidFill>
              </a:rPr>
              <a:t> models to get greater accuracy score. Different models can be used to increase the accuracy of the model for the better prediction of the phishing attack. Regularly update the model with new data to adapt to evolving URL patterns and ensure its effectiveness over time. Ensemble methods is a ML technique that combines many base models to generate an optimal predictive model. Further reaching future work would be combining multiple classifiers, trained on different aspects of the same training set, into a single classifier that may provide a more robust prediction than any of the single classifiers on their own.</a:t>
            </a:r>
            <a:endParaRPr lang="en-IN" dirty="0">
              <a:solidFill>
                <a:schemeClr val="bg2">
                  <a:lumMod val="40000"/>
                  <a:lumOff val="60000"/>
                </a:schemeClr>
              </a:solidFill>
            </a:endParaRPr>
          </a:p>
        </p:txBody>
      </p:sp>
    </p:spTree>
    <p:extLst>
      <p:ext uri="{BB962C8B-B14F-4D97-AF65-F5344CB8AC3E}">
        <p14:creationId xmlns:p14="http://schemas.microsoft.com/office/powerpoint/2010/main" val="4468150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1004</TotalTime>
  <Words>766</Words>
  <Application>Microsoft Office PowerPoint</Application>
  <PresentationFormat>Widescreen</PresentationFormat>
  <Paragraphs>32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Bookman Old Style</vt:lpstr>
      <vt:lpstr>Calibri</vt:lpstr>
      <vt:lpstr>Rockwell</vt:lpstr>
      <vt:lpstr>Times New Roman</vt:lpstr>
      <vt:lpstr>Damask</vt:lpstr>
      <vt:lpstr>MACHINE LEARNING BASED SYSTEM FOR PHISHING ATTACK DETECTION</vt:lpstr>
      <vt:lpstr>INTRODUCTION AND STRUCTURE DIAGRAM</vt:lpstr>
      <vt:lpstr>Problem statement</vt:lpstr>
      <vt:lpstr>Methodology</vt:lpstr>
      <vt:lpstr>Methodology</vt:lpstr>
      <vt:lpstr>Result and discussion</vt:lpstr>
      <vt:lpstr>Result and discussion</vt:lpstr>
      <vt:lpstr>Result and discussion</vt:lpstr>
      <vt:lpstr>Conclusion</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BASED SYSTEM FOR PHISHING ATTACK DETECTION</dc:title>
  <dc:creator>Kartikey Singh</dc:creator>
  <cp:lastModifiedBy>amritanhsu shekher</cp:lastModifiedBy>
  <cp:revision>2</cp:revision>
  <dcterms:created xsi:type="dcterms:W3CDTF">2023-11-26T12:59:27Z</dcterms:created>
  <dcterms:modified xsi:type="dcterms:W3CDTF">2024-01-19T08:14:44Z</dcterms:modified>
</cp:coreProperties>
</file>